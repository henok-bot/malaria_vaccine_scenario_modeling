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67" r:id="rId3"/>
    <p:sldId id="266" r:id="rId4"/>
    <p:sldId id="265" r:id="rId5"/>
    <p:sldId id="257" r:id="rId6"/>
    <p:sldId id="261" r:id="rId7"/>
    <p:sldId id="258" r:id="rId8"/>
    <p:sldId id="262" r:id="rId9"/>
    <p:sldId id="269" r:id="rId10"/>
    <p:sldId id="264" r:id="rId11"/>
    <p:sldId id="259" r:id="rId12"/>
    <p:sldId id="263" r:id="rId13"/>
    <p:sldId id="260" r:id="rId14"/>
    <p:sldId id="268" r:id="rId15"/>
  </p:sldIdLst>
  <p:sldSz cx="12192000" cy="6858000"/>
  <p:notesSz cx="6858000" cy="9144000"/>
  <p:defaultTextStyle>
    <a:defPPr>
      <a:defRPr lang="en-ET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1"/>
    <p:restoredTop sz="94704"/>
  </p:normalViewPr>
  <p:slideViewPr>
    <p:cSldViewPr snapToGrid="0">
      <p:cViewPr varScale="1">
        <p:scale>
          <a:sx n="120" d="100"/>
          <a:sy n="120" d="100"/>
        </p:scale>
        <p:origin x="800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20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Henok Tadesse BIREDA" userId="79e30d46-3a6a-4740-b827-6cf4fff18f65" providerId="ADAL" clId="{7738D695-D04E-5B4B-83C4-002F1712BF31}"/>
    <pc:docChg chg="delSld">
      <pc:chgData name="Henok Tadesse BIREDA" userId="79e30d46-3a6a-4740-b827-6cf4fff18f65" providerId="ADAL" clId="{7738D695-D04E-5B4B-83C4-002F1712BF31}" dt="2025-11-21T05:54:38.657" v="0" actId="2696"/>
      <pc:docMkLst>
        <pc:docMk/>
      </pc:docMkLst>
      <pc:sldChg chg="del">
        <pc:chgData name="Henok Tadesse BIREDA" userId="79e30d46-3a6a-4740-b827-6cf4fff18f65" providerId="ADAL" clId="{7738D695-D04E-5B4B-83C4-002F1712BF31}" dt="2025-11-21T05:54:38.657" v="0" actId="2696"/>
        <pc:sldMkLst>
          <pc:docMk/>
          <pc:sldMk cId="1336092953" sldId="270"/>
        </pc:sldMkLst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A97601-6F2E-55D6-5715-3577EFA6D0E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ET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15E7930-C9EE-C776-8ABA-0799AC0BB2C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ET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CA627F1-1691-9E51-0420-D21F9FE62A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8D3BA9-7D5B-3B4B-86A2-C1D1BD7D528D}" type="datetimeFigureOut">
              <a:rPr lang="en-ET" smtClean="0"/>
              <a:t>21/11/2025</a:t>
            </a:fld>
            <a:endParaRPr lang="en-ET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50472B8-DD3D-C90C-A884-2280C012FA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ET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ECE76F3-CF0F-9828-584E-004D36052A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32039A-BE3C-7143-89E3-179D9E264427}" type="slidenum">
              <a:rPr lang="en-ET" smtClean="0"/>
              <a:t>‹#›</a:t>
            </a:fld>
            <a:endParaRPr lang="en-ET"/>
          </a:p>
        </p:txBody>
      </p:sp>
    </p:spTree>
    <p:extLst>
      <p:ext uri="{BB962C8B-B14F-4D97-AF65-F5344CB8AC3E}">
        <p14:creationId xmlns:p14="http://schemas.microsoft.com/office/powerpoint/2010/main" val="226617586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F74C80-737B-8427-F3DD-C673E581AB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ET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0455B66-DD17-490C-92CB-EE8A8320559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ET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69D9698-3558-E5F4-0008-4ED72CC0C4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8D3BA9-7D5B-3B4B-86A2-C1D1BD7D528D}" type="datetimeFigureOut">
              <a:rPr lang="en-ET" smtClean="0"/>
              <a:t>21/11/2025</a:t>
            </a:fld>
            <a:endParaRPr lang="en-ET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73FC496-B29D-8504-98D8-F54824E872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ET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C6449C8-3539-F007-5351-917E0FBBA9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32039A-BE3C-7143-89E3-179D9E264427}" type="slidenum">
              <a:rPr lang="en-ET" smtClean="0"/>
              <a:t>‹#›</a:t>
            </a:fld>
            <a:endParaRPr lang="en-ET"/>
          </a:p>
        </p:txBody>
      </p:sp>
    </p:spTree>
    <p:extLst>
      <p:ext uri="{BB962C8B-B14F-4D97-AF65-F5344CB8AC3E}">
        <p14:creationId xmlns:p14="http://schemas.microsoft.com/office/powerpoint/2010/main" val="390012415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D5C712-9103-B2C6-2E0D-0A687A79E0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ET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DE249CA-15DF-D91E-5558-2B6BC1EF565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6596F70-E275-5871-A946-AB00B70298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8D3BA9-7D5B-3B4B-86A2-C1D1BD7D528D}" type="datetimeFigureOut">
              <a:rPr lang="en-ET" smtClean="0"/>
              <a:t>21/11/2025</a:t>
            </a:fld>
            <a:endParaRPr lang="en-ET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C020467-D491-F005-BB2A-E11F9F467D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ET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061108C-0B9B-5970-3C48-9E14823501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32039A-BE3C-7143-89E3-179D9E264427}" type="slidenum">
              <a:rPr lang="en-ET" smtClean="0"/>
              <a:t>‹#›</a:t>
            </a:fld>
            <a:endParaRPr lang="en-ET"/>
          </a:p>
        </p:txBody>
      </p:sp>
    </p:spTree>
    <p:extLst>
      <p:ext uri="{BB962C8B-B14F-4D97-AF65-F5344CB8AC3E}">
        <p14:creationId xmlns:p14="http://schemas.microsoft.com/office/powerpoint/2010/main" val="260231070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363B69-2792-2780-5206-4EE37B8B9D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ET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B24B4A3-A8E3-7785-3E88-3A2EEE7A37A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ET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F38A35E-CF65-F4DD-6A21-A68E2CDE0D3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ET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1DFAEB2-1468-D9EB-1F8F-60F77744C0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8D3BA9-7D5B-3B4B-86A2-C1D1BD7D528D}" type="datetimeFigureOut">
              <a:rPr lang="en-ET" smtClean="0"/>
              <a:t>21/11/2025</a:t>
            </a:fld>
            <a:endParaRPr lang="en-ET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AA00FEE-7DBE-1625-F6C9-DF0F7527E0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ET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D5E4E25-90D2-92D6-B24B-7BE8E525BA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32039A-BE3C-7143-89E3-179D9E264427}" type="slidenum">
              <a:rPr lang="en-ET" smtClean="0"/>
              <a:t>‹#›</a:t>
            </a:fld>
            <a:endParaRPr lang="en-ET"/>
          </a:p>
        </p:txBody>
      </p:sp>
    </p:spTree>
    <p:extLst>
      <p:ext uri="{BB962C8B-B14F-4D97-AF65-F5344CB8AC3E}">
        <p14:creationId xmlns:p14="http://schemas.microsoft.com/office/powerpoint/2010/main" val="37509277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4CB4A9-6320-BFA0-CABD-E1C0B51D0F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ET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C1B5CF0-0966-A5DA-840A-9987AA68115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A8EB2C7-F30A-6632-171A-029481EBF77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ET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8474018-3367-FE14-7B2B-8B7B82EF9EB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FFEDF52-ACBA-8C2F-2D57-AE720EFE905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ET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38A6A86-25EC-87E5-EB23-21DD28D284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8D3BA9-7D5B-3B4B-86A2-C1D1BD7D528D}" type="datetimeFigureOut">
              <a:rPr lang="en-ET" smtClean="0"/>
              <a:t>21/11/2025</a:t>
            </a:fld>
            <a:endParaRPr lang="en-ET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9C26478-D79C-5EDE-76A2-ED0FB25D8B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ET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7F83205-5A44-9B86-B033-7FC1A577FD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32039A-BE3C-7143-89E3-179D9E264427}" type="slidenum">
              <a:rPr lang="en-ET" smtClean="0"/>
              <a:t>‹#›</a:t>
            </a:fld>
            <a:endParaRPr lang="en-ET"/>
          </a:p>
        </p:txBody>
      </p:sp>
    </p:spTree>
    <p:extLst>
      <p:ext uri="{BB962C8B-B14F-4D97-AF65-F5344CB8AC3E}">
        <p14:creationId xmlns:p14="http://schemas.microsoft.com/office/powerpoint/2010/main" val="47495648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2D07C1-04F2-099D-DDAC-162CBDE357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ET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644613D-B04B-90B8-C563-ECB36906E4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8D3BA9-7D5B-3B4B-86A2-C1D1BD7D528D}" type="datetimeFigureOut">
              <a:rPr lang="en-ET" smtClean="0"/>
              <a:t>21/11/2025</a:t>
            </a:fld>
            <a:endParaRPr lang="en-ET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03586E0-239F-F878-585B-FFC318F299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ET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F2C4739-C078-1589-189D-A42BCCF987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32039A-BE3C-7143-89E3-179D9E264427}" type="slidenum">
              <a:rPr lang="en-ET" smtClean="0"/>
              <a:t>‹#›</a:t>
            </a:fld>
            <a:endParaRPr lang="en-ET"/>
          </a:p>
        </p:txBody>
      </p:sp>
    </p:spTree>
    <p:extLst>
      <p:ext uri="{BB962C8B-B14F-4D97-AF65-F5344CB8AC3E}">
        <p14:creationId xmlns:p14="http://schemas.microsoft.com/office/powerpoint/2010/main" val="411926843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60D263C-E411-BA63-4F78-9F614135AC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8D3BA9-7D5B-3B4B-86A2-C1D1BD7D528D}" type="datetimeFigureOut">
              <a:rPr lang="en-ET" smtClean="0"/>
              <a:t>21/11/2025</a:t>
            </a:fld>
            <a:endParaRPr lang="en-ET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A6EA590-EA0E-0B02-074E-FF7FC359D9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ET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70A1552-B77A-BF7A-35BD-A7D8884450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32039A-BE3C-7143-89E3-179D9E264427}" type="slidenum">
              <a:rPr lang="en-ET" smtClean="0"/>
              <a:t>‹#›</a:t>
            </a:fld>
            <a:endParaRPr lang="en-ET"/>
          </a:p>
        </p:txBody>
      </p:sp>
    </p:spTree>
    <p:extLst>
      <p:ext uri="{BB962C8B-B14F-4D97-AF65-F5344CB8AC3E}">
        <p14:creationId xmlns:p14="http://schemas.microsoft.com/office/powerpoint/2010/main" val="277155371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3C328E-80CF-3704-9AA0-C317023CC3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ET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EAC6A01-EB1E-E527-41BE-1A24207ECD7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ET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0D06DF5-4E9D-BD13-0159-B61FCAF071F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DB3D1DD-BB69-097C-71C9-34FCFB8026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8D3BA9-7D5B-3B4B-86A2-C1D1BD7D528D}" type="datetimeFigureOut">
              <a:rPr lang="en-ET" smtClean="0"/>
              <a:t>21/11/2025</a:t>
            </a:fld>
            <a:endParaRPr lang="en-ET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7566F95-67D5-407B-5C0E-B21B3D658C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ET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5708A14-770E-7BE8-4AFF-F41530A1C8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32039A-BE3C-7143-89E3-179D9E264427}" type="slidenum">
              <a:rPr lang="en-ET" smtClean="0"/>
              <a:t>‹#›</a:t>
            </a:fld>
            <a:endParaRPr lang="en-ET"/>
          </a:p>
        </p:txBody>
      </p:sp>
    </p:spTree>
    <p:extLst>
      <p:ext uri="{BB962C8B-B14F-4D97-AF65-F5344CB8AC3E}">
        <p14:creationId xmlns:p14="http://schemas.microsoft.com/office/powerpoint/2010/main" val="206697611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B5B737-1E7B-E3EB-4497-EF7374E9E1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ET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B9A2781-2094-9AF8-0A20-4A67443E7F7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ET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1528234-D784-900B-2B26-CBE11EE53D8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2A9E01D-86A3-20FE-71B5-6A9FBBCE1A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8D3BA9-7D5B-3B4B-86A2-C1D1BD7D528D}" type="datetimeFigureOut">
              <a:rPr lang="en-ET" smtClean="0"/>
              <a:t>21/11/2025</a:t>
            </a:fld>
            <a:endParaRPr lang="en-ET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CE56FE1-8062-DA7F-57BC-C2F46FAA8C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ET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BA8A95E-5A11-2924-74B0-BAA9F1DE92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32039A-BE3C-7143-89E3-179D9E264427}" type="slidenum">
              <a:rPr lang="en-ET" smtClean="0"/>
              <a:t>‹#›</a:t>
            </a:fld>
            <a:endParaRPr lang="en-ET"/>
          </a:p>
        </p:txBody>
      </p:sp>
    </p:spTree>
    <p:extLst>
      <p:ext uri="{BB962C8B-B14F-4D97-AF65-F5344CB8AC3E}">
        <p14:creationId xmlns:p14="http://schemas.microsoft.com/office/powerpoint/2010/main" val="376747040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7A2881-3E60-AA76-646C-BF9BECD633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ET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65AA95E-A4A6-3EFB-F5BF-0035F2E55EB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ET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CEB064C-63BA-D2CD-5BD4-AC0EF2C492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8D3BA9-7D5B-3B4B-86A2-C1D1BD7D528D}" type="datetimeFigureOut">
              <a:rPr lang="en-ET" smtClean="0"/>
              <a:t>21/11/2025</a:t>
            </a:fld>
            <a:endParaRPr lang="en-ET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F3956EF-64AC-0462-E7C7-E31DE0E951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ET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D68C64C-1422-FDCB-FA05-7A77DF89A8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32039A-BE3C-7143-89E3-179D9E264427}" type="slidenum">
              <a:rPr lang="en-ET" smtClean="0"/>
              <a:t>‹#›</a:t>
            </a:fld>
            <a:endParaRPr lang="en-ET"/>
          </a:p>
        </p:txBody>
      </p:sp>
    </p:spTree>
    <p:extLst>
      <p:ext uri="{BB962C8B-B14F-4D97-AF65-F5344CB8AC3E}">
        <p14:creationId xmlns:p14="http://schemas.microsoft.com/office/powerpoint/2010/main" val="192124371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DAB7601-027A-BADE-A3A9-E010F9F7122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ET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3CE8AD3-DB08-7156-D730-C67D26DB915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ET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818A8E6-195F-6E60-1FDF-4D62594566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8D3BA9-7D5B-3B4B-86A2-C1D1BD7D528D}" type="datetimeFigureOut">
              <a:rPr lang="en-ET" smtClean="0"/>
              <a:t>21/11/2025</a:t>
            </a:fld>
            <a:endParaRPr lang="en-ET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59B658F-CBC2-D775-8AF6-80F3A89F1E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ET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A021182-E600-D0AF-AEFB-9EFFF8DAFD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32039A-BE3C-7143-89E3-179D9E264427}" type="slidenum">
              <a:rPr lang="en-ET" smtClean="0"/>
              <a:t>‹#›</a:t>
            </a:fld>
            <a:endParaRPr lang="en-ET"/>
          </a:p>
        </p:txBody>
      </p:sp>
    </p:spTree>
    <p:extLst>
      <p:ext uri="{BB962C8B-B14F-4D97-AF65-F5344CB8AC3E}">
        <p14:creationId xmlns:p14="http://schemas.microsoft.com/office/powerpoint/2010/main" val="179586712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FD4420A-5292-547D-C087-7571CB60AB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ET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9B4AD00-402D-A880-5B06-14AA4DA46CE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ET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333835C-BEEA-7EE8-4454-78B5D10E20A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E8D3BA9-7D5B-3B4B-86A2-C1D1BD7D528D}" type="datetimeFigureOut">
              <a:rPr lang="en-ET" smtClean="0"/>
              <a:t>21/11/2025</a:t>
            </a:fld>
            <a:endParaRPr lang="en-ET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899721F-E846-11DE-8881-4E2980D1A50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ET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5B4E7D2-E716-0996-163F-B39ED937D66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D32039A-BE3C-7143-89E3-179D9E264427}" type="slidenum">
              <a:rPr lang="en-ET" smtClean="0"/>
              <a:t>‹#›</a:t>
            </a:fld>
            <a:endParaRPr lang="en-ET"/>
          </a:p>
        </p:txBody>
      </p:sp>
    </p:spTree>
    <p:extLst>
      <p:ext uri="{BB962C8B-B14F-4D97-AF65-F5344CB8AC3E}">
        <p14:creationId xmlns:p14="http://schemas.microsoft.com/office/powerpoint/2010/main" val="34981217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ET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2CB12B-C064-A9AC-C282-491B96D457E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2235200"/>
            <a:ext cx="9144000" cy="2387600"/>
          </a:xfrm>
        </p:spPr>
        <p:txBody>
          <a:bodyPr>
            <a:normAutofit fontScale="90000"/>
          </a:bodyPr>
          <a:lstStyle/>
          <a:p>
            <a:r>
              <a:rPr lang="en-ET" dirty="0"/>
              <a:t>Malaria Vaccine Deterministic compartmental model in Dera Woreda</a:t>
            </a:r>
          </a:p>
        </p:txBody>
      </p:sp>
    </p:spTree>
    <p:extLst>
      <p:ext uri="{BB962C8B-B14F-4D97-AF65-F5344CB8AC3E}">
        <p14:creationId xmlns:p14="http://schemas.microsoft.com/office/powerpoint/2010/main" val="313742758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BF296A-F952-3FF0-194F-1561293D17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ET" dirty="0"/>
              <a:t>Introudction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E6F0255-428F-800F-F447-A5765A53553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ET" dirty="0"/>
              <a:t>Setting – Dera Woreda, South Gondar zone </a:t>
            </a:r>
          </a:p>
          <a:p>
            <a:pPr marL="0" indent="0">
              <a:buNone/>
            </a:pPr>
            <a:endParaRPr lang="en-ET" dirty="0"/>
          </a:p>
          <a:p>
            <a:pPr marL="0" indent="0">
              <a:buNone/>
            </a:pPr>
            <a:r>
              <a:rPr lang="en-ET" dirty="0"/>
              <a:t>Project  quesiton.</a:t>
            </a:r>
          </a:p>
          <a:p>
            <a:r>
              <a:rPr lang="en-ET" dirty="0"/>
              <a:t>What would be the impact of different vaccination scenarios on malaria burden in Dera woreda?</a:t>
            </a:r>
          </a:p>
        </p:txBody>
      </p:sp>
    </p:spTree>
    <p:extLst>
      <p:ext uri="{BB962C8B-B14F-4D97-AF65-F5344CB8AC3E}">
        <p14:creationId xmlns:p14="http://schemas.microsoft.com/office/powerpoint/2010/main" val="389602380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536039-B178-BB8F-B53E-07C446C88C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ET" dirty="0"/>
              <a:t>Approach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4B49A6A-10D0-0EB4-C9F1-255B3BF13BD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ET" dirty="0"/>
              <a:t>Init</a:t>
            </a:r>
            <a:r>
              <a:rPr lang="en-US" dirty="0" err="1"/>
              <a:t>i</a:t>
            </a:r>
            <a:r>
              <a:rPr lang="en-ET" dirty="0"/>
              <a:t>al SIR model with wout intervention </a:t>
            </a:r>
          </a:p>
          <a:p>
            <a:r>
              <a:rPr lang="en-ET" dirty="0"/>
              <a:t>Estimating of selected parameters from data (optim)</a:t>
            </a:r>
          </a:p>
          <a:p>
            <a:r>
              <a:rPr lang="en-US" dirty="0"/>
              <a:t>R</a:t>
            </a:r>
            <a:r>
              <a:rPr lang="en-ET" dirty="0"/>
              <a:t>unnig the SIR model with optimal parameters – testing fitting </a:t>
            </a:r>
          </a:p>
          <a:p>
            <a:r>
              <a:rPr lang="en-US" dirty="0"/>
              <a:t>U</a:t>
            </a:r>
            <a:r>
              <a:rPr lang="en-ET" dirty="0"/>
              <a:t>se the model to run different vaccination scenarios</a:t>
            </a:r>
          </a:p>
          <a:p>
            <a:pPr marL="0" indent="0">
              <a:buNone/>
            </a:pPr>
            <a:endParaRPr lang="en-ET" dirty="0"/>
          </a:p>
          <a:p>
            <a:endParaRPr lang="en-ET" dirty="0"/>
          </a:p>
          <a:p>
            <a:endParaRPr lang="en-ET" dirty="0"/>
          </a:p>
          <a:p>
            <a:endParaRPr lang="en-ET" dirty="0"/>
          </a:p>
          <a:p>
            <a:endParaRPr lang="en-ET" dirty="0"/>
          </a:p>
          <a:p>
            <a:endParaRPr lang="en-ET" dirty="0"/>
          </a:p>
        </p:txBody>
      </p:sp>
    </p:spTree>
    <p:extLst>
      <p:ext uri="{BB962C8B-B14F-4D97-AF65-F5344CB8AC3E}">
        <p14:creationId xmlns:p14="http://schemas.microsoft.com/office/powerpoint/2010/main" val="136397920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B29995-E14B-B684-C23D-7119F0FDA6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ET" dirty="0"/>
              <a:t>Parameters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BB167A1D-4BBE-37A1-7BF7-0D85EBF11B31}"/>
              </a:ext>
            </a:extLst>
          </p:cNvPr>
          <p:cNvSpPr txBox="1">
            <a:spLocks/>
          </p:cNvSpPr>
          <p:nvPr/>
        </p:nvSpPr>
        <p:spPr>
          <a:xfrm>
            <a:off x="4960883" y="1827705"/>
            <a:ext cx="6653048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ET" dirty="0"/>
          </a:p>
          <a:p>
            <a:endParaRPr lang="en-ET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12585A1-F8C0-472C-3044-56B1B99DFA84}"/>
              </a:ext>
            </a:extLst>
          </p:cNvPr>
          <p:cNvSpPr txBox="1"/>
          <p:nvPr/>
        </p:nvSpPr>
        <p:spPr>
          <a:xfrm>
            <a:off x="367861" y="1564947"/>
            <a:ext cx="6768663" cy="50383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ET" dirty="0"/>
              <a:t>b     = 0.000465  # Birth rate of hum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ET" dirty="0"/>
              <a:t>m   = 0.254144  # Recruitment rate of vectors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ET" dirty="0"/>
              <a:t>mu    = 1/ (human_life_expectancy)    # Natural human death rate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ET" dirty="0"/>
              <a:t>mu_v  = 1/ (mosquito_lifespan)# Mortality rate of adult vectors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ET" dirty="0">
                <a:highlight>
                  <a:srgbClr val="FFFF00"/>
                </a:highlight>
              </a:rPr>
              <a:t>sigma = ?  </a:t>
            </a:r>
            <a:r>
              <a:rPr lang="en-ET" dirty="0"/>
              <a:t># Disease-induced death rate 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ET" dirty="0"/>
              <a:t>beta_0 = 26 # bites per week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ET" dirty="0">
                <a:highlight>
                  <a:srgbClr val="FFFF00"/>
                </a:highlight>
              </a:rPr>
              <a:t>psi = ? </a:t>
            </a:r>
            <a:r>
              <a:rPr lang="en-ET" dirty="0"/>
              <a:t>#amplitude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ET" dirty="0"/>
              <a:t>gamma = 1/ (infectious_period)      # Recovery rate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ET" dirty="0"/>
              <a:t>tau = 1/(126/7) # rate of waning immunity from recovered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tau</a:t>
            </a:r>
            <a:endParaRPr lang="en-ET" dirty="0"/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ET" dirty="0">
                <a:highlight>
                  <a:srgbClr val="FFFF00"/>
                </a:highlight>
              </a:rPr>
              <a:t>alpha_vh </a:t>
            </a:r>
            <a:r>
              <a:rPr lang="en-ET" dirty="0"/>
              <a:t>=   # Transmission probability from vectors to hosts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ET" dirty="0">
                <a:highlight>
                  <a:srgbClr val="FFFF00"/>
                </a:highlight>
              </a:rPr>
              <a:t>alpha_hv </a:t>
            </a:r>
            <a:r>
              <a:rPr lang="en-ET" dirty="0"/>
              <a:t>=  # Transmission probability from hosts to vectors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A321451-9E7C-25F6-1597-CD44FC309FF9}"/>
              </a:ext>
            </a:extLst>
          </p:cNvPr>
          <p:cNvSpPr txBox="1"/>
          <p:nvPr/>
        </p:nvSpPr>
        <p:spPr>
          <a:xfrm>
            <a:off x="7888014" y="2869324"/>
            <a:ext cx="2974427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 sigma  -  -0.641844026  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err="1"/>
              <a:t>alpha_hv</a:t>
            </a:r>
            <a:r>
              <a:rPr lang="en-US" dirty="0"/>
              <a:t> - 0.008912758   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err="1"/>
              <a:t>alpha_vh</a:t>
            </a:r>
            <a:r>
              <a:rPr lang="en-US" dirty="0"/>
              <a:t>   - 0.007039342     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psi  - 0.336561225</a:t>
            </a:r>
          </a:p>
          <a:p>
            <a:r>
              <a:rPr lang="en-US" dirty="0"/>
              <a:t> </a:t>
            </a:r>
            <a:endParaRPr lang="en-ET" dirty="0"/>
          </a:p>
        </p:txBody>
      </p:sp>
    </p:spTree>
    <p:extLst>
      <p:ext uri="{BB962C8B-B14F-4D97-AF65-F5344CB8AC3E}">
        <p14:creationId xmlns:p14="http://schemas.microsoft.com/office/powerpoint/2010/main" val="31887889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 descr="A graph of a graph showing a number of data&#10;&#10;AI-generated content may be incorrect.">
            <a:extLst>
              <a:ext uri="{FF2B5EF4-FFF2-40B4-BE49-F238E27FC236}">
                <a16:creationId xmlns:a16="http://schemas.microsoft.com/office/drawing/2014/main" id="{47149708-2ADC-4B18-0EFA-3C43F13FF38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405184" y="0"/>
            <a:ext cx="9199754" cy="6858000"/>
          </a:xfr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7A86D54B-EE06-8CB5-94DA-C00F1CC9F6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98372" y="6201103"/>
            <a:ext cx="2606566" cy="551793"/>
          </a:xfrm>
        </p:spPr>
        <p:txBody>
          <a:bodyPr>
            <a:normAutofit/>
          </a:bodyPr>
          <a:lstStyle/>
          <a:p>
            <a:r>
              <a:rPr lang="en-US" sz="2000" dirty="0"/>
              <a:t>R-squared: 0.8746934 </a:t>
            </a:r>
            <a:endParaRPr lang="en-ET" sz="2000" dirty="0"/>
          </a:p>
        </p:txBody>
      </p:sp>
    </p:spTree>
    <p:extLst>
      <p:ext uri="{BB962C8B-B14F-4D97-AF65-F5344CB8AC3E}">
        <p14:creationId xmlns:p14="http://schemas.microsoft.com/office/powerpoint/2010/main" val="254151874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3FF515-C755-7BA7-E966-616A8E7C81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ET"/>
          </a:p>
        </p:txBody>
      </p:sp>
      <p:pic>
        <p:nvPicPr>
          <p:cNvPr id="5" name="Content Placeholder 4" descr="A graph with red line and green line&#10;&#10;AI-generated content may be incorrect.">
            <a:extLst>
              <a:ext uri="{FF2B5EF4-FFF2-40B4-BE49-F238E27FC236}">
                <a16:creationId xmlns:a16="http://schemas.microsoft.com/office/drawing/2014/main" id="{3B232AD4-4F58-8B06-A47D-50EE017B3B6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518688" y="16822"/>
            <a:ext cx="9154623" cy="6824356"/>
          </a:xfrm>
        </p:spPr>
      </p:pic>
    </p:spTree>
    <p:extLst>
      <p:ext uri="{BB962C8B-B14F-4D97-AF65-F5344CB8AC3E}">
        <p14:creationId xmlns:p14="http://schemas.microsoft.com/office/powerpoint/2010/main" val="260839278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F00E37-8519-A053-40DE-18D96864C1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ET"/>
          </a:p>
        </p:txBody>
      </p:sp>
      <p:pic>
        <p:nvPicPr>
          <p:cNvPr id="9" name="Content Placeholder 8" descr="A graph with red line and green line&#10;&#10;AI-generated content may be incorrect.">
            <a:extLst>
              <a:ext uri="{FF2B5EF4-FFF2-40B4-BE49-F238E27FC236}">
                <a16:creationId xmlns:a16="http://schemas.microsoft.com/office/drawing/2014/main" id="{247F3DC6-3588-9C0F-9871-918E4B6FEB3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175625" y="0"/>
            <a:ext cx="9265834" cy="6907259"/>
          </a:xfrm>
        </p:spPr>
      </p:pic>
    </p:spTree>
    <p:extLst>
      <p:ext uri="{BB962C8B-B14F-4D97-AF65-F5344CB8AC3E}">
        <p14:creationId xmlns:p14="http://schemas.microsoft.com/office/powerpoint/2010/main" val="341185369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779B51-13A5-BD46-1D3D-19F242E317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8708" y="2766218"/>
            <a:ext cx="10515600" cy="1325563"/>
          </a:xfrm>
        </p:spPr>
        <p:txBody>
          <a:bodyPr/>
          <a:lstStyle/>
          <a:p>
            <a:r>
              <a:rPr lang="en-ET" dirty="0"/>
              <a:t>Incorporating vaccination scenarios</a:t>
            </a:r>
          </a:p>
        </p:txBody>
      </p:sp>
    </p:spTree>
    <p:extLst>
      <p:ext uri="{BB962C8B-B14F-4D97-AF65-F5344CB8AC3E}">
        <p14:creationId xmlns:p14="http://schemas.microsoft.com/office/powerpoint/2010/main" val="4683501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E04BD6-F21A-29EE-023C-0B470DED32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ET"/>
          </a:p>
        </p:txBody>
      </p:sp>
      <p:pic>
        <p:nvPicPr>
          <p:cNvPr id="5" name="Content Placeholder 4" descr="A diagram on a white board&#10;&#10;AI-generated content may be incorrect.">
            <a:extLst>
              <a:ext uri="{FF2B5EF4-FFF2-40B4-BE49-F238E27FC236}">
                <a16:creationId xmlns:a16="http://schemas.microsoft.com/office/drawing/2014/main" id="{48FB91D9-35AB-574B-DFAE-A70F5CBCCA7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8200" y="0"/>
            <a:ext cx="9742775" cy="6858000"/>
          </a:xfrm>
        </p:spPr>
      </p:pic>
    </p:spTree>
    <p:extLst>
      <p:ext uri="{BB962C8B-B14F-4D97-AF65-F5344CB8AC3E}">
        <p14:creationId xmlns:p14="http://schemas.microsoft.com/office/powerpoint/2010/main" val="288018875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 descr="A graph of a vaccination rate&#10;&#10;AI-generated content may be incorrect.">
            <a:extLst>
              <a:ext uri="{FF2B5EF4-FFF2-40B4-BE49-F238E27FC236}">
                <a16:creationId xmlns:a16="http://schemas.microsoft.com/office/drawing/2014/main" id="{AE650EC5-B978-DBC6-260A-328FAE28E1A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529833" y="55909"/>
            <a:ext cx="9132333" cy="6802091"/>
          </a:xfrm>
        </p:spPr>
      </p:pic>
    </p:spTree>
    <p:extLst>
      <p:ext uri="{BB962C8B-B14F-4D97-AF65-F5344CB8AC3E}">
        <p14:creationId xmlns:p14="http://schemas.microsoft.com/office/powerpoint/2010/main" val="94605751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6" name="Rectangle 15">
            <a:extLst>
              <a:ext uri="{FF2B5EF4-FFF2-40B4-BE49-F238E27FC236}">
                <a16:creationId xmlns:a16="http://schemas.microsoft.com/office/drawing/2014/main" id="{AD96FDFD-4E42-4A06-B8B5-768A1DB9C2A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1" name="Picture 10" descr="A graph of a vaccination rate&#10;&#10;AI-generated content may be incorrect.">
            <a:extLst>
              <a:ext uri="{FF2B5EF4-FFF2-40B4-BE49-F238E27FC236}">
                <a16:creationId xmlns:a16="http://schemas.microsoft.com/office/drawing/2014/main" id="{73880BD2-9AE3-B1CE-FA52-948233DEA8B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92301" y="0"/>
            <a:ext cx="9295147" cy="69233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9324867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 descr="A graph of a vaccination rate&#10;&#10;AI-generated content may be incorrect.">
            <a:extLst>
              <a:ext uri="{FF2B5EF4-FFF2-40B4-BE49-F238E27FC236}">
                <a16:creationId xmlns:a16="http://schemas.microsoft.com/office/drawing/2014/main" id="{177A30CA-6A2C-1839-0A88-F1D01C59BC6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037277" y="-1"/>
            <a:ext cx="9132334" cy="6802091"/>
          </a:xfrm>
        </p:spPr>
      </p:pic>
    </p:spTree>
    <p:extLst>
      <p:ext uri="{BB962C8B-B14F-4D97-AF65-F5344CB8AC3E}">
        <p14:creationId xmlns:p14="http://schemas.microsoft.com/office/powerpoint/2010/main" val="171979384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2A58EE-FDB8-3B99-492F-DF9926BA5E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ET"/>
          </a:p>
        </p:txBody>
      </p:sp>
      <p:pic>
        <p:nvPicPr>
          <p:cNvPr id="7" name="Content Placeholder 6" descr="A graph of vaccination&#10;&#10;AI-generated content may be incorrect.">
            <a:extLst>
              <a:ext uri="{FF2B5EF4-FFF2-40B4-BE49-F238E27FC236}">
                <a16:creationId xmlns:a16="http://schemas.microsoft.com/office/drawing/2014/main" id="{1510F0D0-05F4-F8E9-FB8F-AF23BA775CE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0" y="-35615"/>
            <a:ext cx="9255211" cy="6893615"/>
          </a:xfr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D4E456BF-6D59-0345-4768-4A08DA4DEAC4}"/>
              </a:ext>
            </a:extLst>
          </p:cNvPr>
          <p:cNvSpPr txBox="1"/>
          <p:nvPr/>
        </p:nvSpPr>
        <p:spPr>
          <a:xfrm>
            <a:off x="9255210" y="2217683"/>
            <a:ext cx="2936789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ET" dirty="0"/>
              <a:t>Precaution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ET" dirty="0"/>
              <a:t>No age group stratificaiton in the model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ET" dirty="0"/>
              <a:t>Vaccine immunity assumed to last the whole simulated(for those where it is effective (75%)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ET" dirty="0"/>
              <a:t>  </a:t>
            </a:r>
          </a:p>
        </p:txBody>
      </p:sp>
    </p:spTree>
    <p:extLst>
      <p:ext uri="{BB962C8B-B14F-4D97-AF65-F5344CB8AC3E}">
        <p14:creationId xmlns:p14="http://schemas.microsoft.com/office/powerpoint/2010/main" val="297186372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77E0F5-FCE4-91A3-7C3E-CDF6433C4D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ET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8BAACCD-100C-647B-C450-AFB44B7FEE3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ET"/>
          </a:p>
        </p:txBody>
      </p:sp>
      <p:pic>
        <p:nvPicPr>
          <p:cNvPr id="4" name="Content Placeholder 6" descr="A graph of vaccination&#10;&#10;AI-generated content may be incorrect.">
            <a:extLst>
              <a:ext uri="{FF2B5EF4-FFF2-40B4-BE49-F238E27FC236}">
                <a16:creationId xmlns:a16="http://schemas.microsoft.com/office/drawing/2014/main" id="{B78D39D3-5EE2-6717-A513-E13F596004B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68134" y="-35615"/>
            <a:ext cx="9255211" cy="68936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9429516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105</TotalTime>
  <Words>244</Words>
  <Application>Microsoft Macintosh PowerPoint</Application>
  <PresentationFormat>Widescreen</PresentationFormat>
  <Paragraphs>39</Paragraphs>
  <Slides>14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8" baseType="lpstr">
      <vt:lpstr>Aptos</vt:lpstr>
      <vt:lpstr>Aptos Display</vt:lpstr>
      <vt:lpstr>Arial</vt:lpstr>
      <vt:lpstr>Office Theme</vt:lpstr>
      <vt:lpstr>Malaria Vaccine Deterministic compartmental model in Dera Woreda</vt:lpstr>
      <vt:lpstr>Introudction</vt:lpstr>
      <vt:lpstr>Approach</vt:lpstr>
      <vt:lpstr>Parameters</vt:lpstr>
      <vt:lpstr>R-squared: 0.8746934 </vt:lpstr>
      <vt:lpstr>PowerPoint Presentation</vt:lpstr>
      <vt:lpstr>PowerPoint Presentation</vt:lpstr>
      <vt:lpstr>Incorporating vaccination scenarios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Henok Tadesse BIREDA</dc:creator>
  <cp:lastModifiedBy>Henok Tadesse BIREDA</cp:lastModifiedBy>
  <cp:revision>1</cp:revision>
  <dcterms:created xsi:type="dcterms:W3CDTF">2025-08-15T06:25:51Z</dcterms:created>
  <dcterms:modified xsi:type="dcterms:W3CDTF">2025-11-21T05:54:41Z</dcterms:modified>
</cp:coreProperties>
</file>